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LMqExsg/vrnIGvzbcnQWEBVMO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abfa3d9f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2fabfa3d9f4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abfa3d9f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2fabfa3d9f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abfa3d9f4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2fabfa3d9f4_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fabfa3d9f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2fabfa3d9f4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2b93c445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2d2b93c4457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abfa3d9f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2fabfa3d9f4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abfa3d9f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2fabfa3d9f4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abfa3d9f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2fabfa3d9f4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fabfa3d9f4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</a:t>
            </a:r>
            <a:endParaRPr/>
          </a:p>
        </p:txBody>
      </p:sp>
      <p:sp>
        <p:nvSpPr>
          <p:cNvPr id="183" name="Google Shape;183;g2fabfa3d9f4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abfa3d9f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2fabfa3d9f4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fabfa3d9f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</a:t>
            </a:r>
            <a:endParaRPr/>
          </a:p>
        </p:txBody>
      </p:sp>
      <p:sp>
        <p:nvSpPr>
          <p:cNvPr id="200" name="Google Shape;200;g2fabfa3d9f4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abfa3d9f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2fabfa3d9f4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fabfa3d9f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2fabfa3d9f4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abfa3d9f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fabfa3d9f4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fabfa3d9f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fabfa3d9f4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fabfa3d9f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2fabfa3d9f4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fabfa3d9f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fabfa3d9f4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fabfa3d9f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fabfa3d9f4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abfa3d9f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fabfa3d9f4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fabfa3d9f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2fabfa3d9f4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" name="Google Shape;11;p3"/>
          <p:cNvSpPr txBox="1"/>
          <p:nvPr/>
        </p:nvSpPr>
        <p:spPr>
          <a:xfrm>
            <a:off x="902949" y="6432799"/>
            <a:ext cx="255550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Engenharia Mecatrônica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youtu.be/A0jNxXPh3Rw" TargetMode="External"/><Relationship Id="rId4" Type="http://schemas.openxmlformats.org/officeDocument/2006/relationships/hyperlink" Target="https://youtu.be/gb24BZ6IZMY" TargetMode="External"/><Relationship Id="rId5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pt-BR" sz="4400"/>
              <a:t>DESENVOLVIMENTO DE UM SISTEMA DE SENSORIAMENTO E INTERFACE DE DADOS PARA O FMS DA UTFPR</a:t>
            </a:r>
            <a:endParaRPr sz="4400"/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latin typeface="Arial"/>
                <a:ea typeface="Arial"/>
                <a:cs typeface="Arial"/>
                <a:sym typeface="Arial"/>
              </a:rPr>
              <a:t>Apresentação de Defesa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50650" y="4274850"/>
            <a:ext cx="4457100" cy="16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pt-BR" sz="2100"/>
              <a:t>Júlio Tinti de Andrade</a:t>
            </a:r>
            <a:endParaRPr b="1" sz="2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pt-BR" sz="2100"/>
              <a:t>Paulo Henrique Nonato da Silva</a:t>
            </a:r>
            <a:endParaRPr b="1" sz="2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pt-BR" sz="2100"/>
              <a:t>Orientador: 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pt-BR" sz="2100"/>
              <a:t>Prof. Dr. Sidney Carlos Gasoto.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idx="1" type="body"/>
          </p:nvPr>
        </p:nvSpPr>
        <p:spPr>
          <a:xfrm>
            <a:off x="7475350" y="1422200"/>
            <a:ext cx="4459800" cy="48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3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3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pt-BR" sz="2200"/>
              <a:t>4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6</a:t>
            </a:r>
            <a:r>
              <a:rPr lang="pt-BR" sz="2200"/>
              <a:t> 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7 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9 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9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14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16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18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20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21</a:t>
            </a:r>
            <a:endParaRPr sz="2200"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1333825" y="1422200"/>
            <a:ext cx="6447600" cy="48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1 – INTRODUÇÃO……………………………</a:t>
            </a:r>
            <a:r>
              <a:rPr lang="pt-BR" sz="2200"/>
              <a:t>..……………………….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  1.1 Indústria 4.0</a:t>
            </a:r>
            <a:r>
              <a:rPr lang="pt-BR" sz="2200"/>
              <a:t>……………………………..………………………..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pt-BR" sz="2200"/>
              <a:t>  1.2 Laboratório</a:t>
            </a:r>
            <a:r>
              <a:rPr lang="pt-BR" sz="2200"/>
              <a:t>……………………………….……………………….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  1.3 Objetivo……………………………………………………………..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  1.4 Requisitos…………………………………………………………..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 2 – DESENVOLVIMENTO</a:t>
            </a:r>
            <a:r>
              <a:rPr lang="pt-BR" sz="2200"/>
              <a:t>…………………..……………………….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  2.1 Aquisição de dados</a:t>
            </a:r>
            <a:r>
              <a:rPr lang="pt-BR" sz="2200"/>
              <a:t>…………………………………………….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pt-BR" sz="2200"/>
              <a:t>  2.2 Armazenamento de Dados</a:t>
            </a:r>
            <a:r>
              <a:rPr lang="pt-BR" sz="2200"/>
              <a:t>………..……………………….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pt-BR" sz="2200"/>
              <a:t>  2.3 Interface do Usuário………………….……………………….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  2.4 Disponibilização dos Dados……….……………………….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/>
              <a:t>3 – RESULTADOS</a:t>
            </a:r>
            <a:r>
              <a:rPr lang="pt-BR" sz="2200"/>
              <a:t>……………………………….……………………….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pt-BR" sz="2200"/>
              <a:t>4 – CONCLUSÕES E PERSPECTIVAS </a:t>
            </a:r>
            <a:r>
              <a:rPr lang="pt-BR" sz="2200"/>
              <a:t>…………………………….</a:t>
            </a:r>
            <a:endParaRPr sz="3200"/>
          </a:p>
        </p:txBody>
      </p:sp>
      <p:sp>
        <p:nvSpPr>
          <p:cNvPr id="94" name="Google Shape;94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5" name="Google Shape;95;p2"/>
          <p:cNvSpPr txBox="1"/>
          <p:nvPr>
            <p:ph type="title"/>
          </p:nvPr>
        </p:nvSpPr>
        <p:spPr>
          <a:xfrm>
            <a:off x="628050" y="2314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SUMÁRIO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fabfa3d9f4_1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1 - INTRODUÇÃO </a:t>
            </a:r>
            <a:r>
              <a:rPr lang="pt-BR" sz="1800"/>
              <a:t>1.1</a:t>
            </a:r>
            <a:r>
              <a:rPr b="1" lang="pt-BR" sz="1800"/>
              <a:t> </a:t>
            </a:r>
            <a:r>
              <a:rPr lang="pt-BR" sz="1800"/>
              <a:t>Indústria 4.0</a:t>
            </a:r>
            <a:endParaRPr/>
          </a:p>
        </p:txBody>
      </p:sp>
      <p:sp>
        <p:nvSpPr>
          <p:cNvPr id="101" name="Google Shape;101;g2fabfa3d9f4_1_5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Indústria 4.0</a:t>
            </a:r>
            <a:endParaRPr/>
          </a:p>
        </p:txBody>
      </p:sp>
      <p:sp>
        <p:nvSpPr>
          <p:cNvPr id="102" name="Google Shape;102;g2fabfa3d9f4_1_5"/>
          <p:cNvSpPr txBox="1"/>
          <p:nvPr>
            <p:ph idx="1" type="body"/>
          </p:nvPr>
        </p:nvSpPr>
        <p:spPr>
          <a:xfrm>
            <a:off x="4167150" y="5779575"/>
            <a:ext cx="38577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1300"/>
              <a:t>Adaptado de Rüßmann </a:t>
            </a:r>
            <a:r>
              <a:rPr b="1" i="1" lang="pt-BR" sz="1300"/>
              <a:t>et al.</a:t>
            </a:r>
            <a:r>
              <a:rPr b="1" lang="pt-BR" sz="1300"/>
              <a:t> (2015, p. 3)</a:t>
            </a:r>
            <a:endParaRPr b="1" sz="1300"/>
          </a:p>
        </p:txBody>
      </p:sp>
      <p:sp>
        <p:nvSpPr>
          <p:cNvPr id="103" name="Google Shape;103;g2fabfa3d9f4_1_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4" name="Google Shape;104;g2fabfa3d9f4_1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3852" y="1584675"/>
            <a:ext cx="4424300" cy="4194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fabfa3d9f4_0_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1 - INTRODUÇÃO </a:t>
            </a:r>
            <a:r>
              <a:rPr lang="pt-BR" sz="1800"/>
              <a:t>1.2</a:t>
            </a:r>
            <a:r>
              <a:rPr b="1" lang="pt-BR" sz="1800"/>
              <a:t> </a:t>
            </a:r>
            <a:r>
              <a:rPr lang="pt-BR" sz="1800"/>
              <a:t>Laboratório</a:t>
            </a:r>
            <a:endParaRPr/>
          </a:p>
        </p:txBody>
      </p:sp>
      <p:sp>
        <p:nvSpPr>
          <p:cNvPr id="110" name="Google Shape;110;g2fabfa3d9f4_0_12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FMS</a:t>
            </a:r>
            <a:endParaRPr/>
          </a:p>
        </p:txBody>
      </p:sp>
      <p:pic>
        <p:nvPicPr>
          <p:cNvPr id="111" name="Google Shape;111;g2fabfa3d9f4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2350" y="1690825"/>
            <a:ext cx="6207299" cy="46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2fabfa3d9f4_0_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fabfa3d9f4_1_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1 - INTRODUÇÃO </a:t>
            </a:r>
            <a:r>
              <a:rPr lang="pt-BR" sz="1800"/>
              <a:t>1.2</a:t>
            </a:r>
            <a:r>
              <a:rPr b="1" lang="pt-BR" sz="1800"/>
              <a:t> </a:t>
            </a:r>
            <a:r>
              <a:rPr lang="pt-BR" sz="1800"/>
              <a:t>Laboratório</a:t>
            </a:r>
            <a:endParaRPr/>
          </a:p>
        </p:txBody>
      </p:sp>
      <p:sp>
        <p:nvSpPr>
          <p:cNvPr id="118" name="Google Shape;118;g2fabfa3d9f4_1_17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FMS</a:t>
            </a:r>
            <a:endParaRPr/>
          </a:p>
        </p:txBody>
      </p:sp>
      <p:pic>
        <p:nvPicPr>
          <p:cNvPr id="119" name="Google Shape;119;g2fabfa3d9f4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9475" y="1928512"/>
            <a:ext cx="6793049" cy="378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fabfa3d9f4_1_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fabfa3d9f4_0_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1 - INTRODUÇÃO </a:t>
            </a:r>
            <a:r>
              <a:rPr lang="pt-BR" sz="1800"/>
              <a:t>1.3</a:t>
            </a:r>
            <a:r>
              <a:rPr b="1" lang="pt-BR" sz="1800"/>
              <a:t> </a:t>
            </a:r>
            <a:r>
              <a:rPr lang="pt-BR" sz="1800"/>
              <a:t>Objetivo</a:t>
            </a:r>
            <a:endParaRPr/>
          </a:p>
        </p:txBody>
      </p:sp>
      <p:sp>
        <p:nvSpPr>
          <p:cNvPr id="126" name="Google Shape;126;g2fabfa3d9f4_0_17"/>
          <p:cNvSpPr txBox="1"/>
          <p:nvPr>
            <p:ph idx="1" type="body"/>
          </p:nvPr>
        </p:nvSpPr>
        <p:spPr>
          <a:xfrm>
            <a:off x="1325400" y="2551500"/>
            <a:ext cx="95412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Adquirir as informações de uso do armazém automatizado do FMS da UTFPR por meio da coleta de dados de sua utilização e disponibilizá-los para o usuário</a:t>
            </a:r>
            <a:endParaRPr/>
          </a:p>
        </p:txBody>
      </p:sp>
      <p:sp>
        <p:nvSpPr>
          <p:cNvPr id="127" name="Google Shape;127;g2fabfa3d9f4_0_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" name="Google Shape;128;g2fabfa3d9f4_0_17"/>
          <p:cNvSpPr txBox="1"/>
          <p:nvPr>
            <p:ph idx="1" type="body"/>
          </p:nvPr>
        </p:nvSpPr>
        <p:spPr>
          <a:xfrm>
            <a:off x="971925" y="19174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500"/>
              <a:t>► OBJETIVO:</a:t>
            </a:r>
            <a:endParaRPr sz="3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d2b93c4457_1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1 - INTRODUÇÃO </a:t>
            </a:r>
            <a:r>
              <a:rPr lang="pt-BR" sz="1800"/>
              <a:t>1.4</a:t>
            </a:r>
            <a:r>
              <a:rPr b="1" lang="pt-BR" sz="1800"/>
              <a:t> </a:t>
            </a:r>
            <a:r>
              <a:rPr lang="pt-BR" sz="1800"/>
              <a:t>Requisitos</a:t>
            </a:r>
            <a:endParaRPr/>
          </a:p>
        </p:txBody>
      </p:sp>
      <p:sp>
        <p:nvSpPr>
          <p:cNvPr id="134" name="Google Shape;134;g2d2b93c4457_1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Requisitos do sistema desenvolvido:</a:t>
            </a:r>
            <a:endParaRPr/>
          </a:p>
          <a:p>
            <a:pPr indent="-3429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Coletar os dados de uso do armazém a partir de sensores.</a:t>
            </a:r>
            <a:endParaRPr/>
          </a:p>
          <a:p>
            <a:pPr indent="-3429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Armazenar os dados em um banco de dados.</a:t>
            </a:r>
            <a:endParaRPr/>
          </a:p>
          <a:p>
            <a:pPr indent="-3429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Criar interface de visualização para o usuário.</a:t>
            </a:r>
            <a:endParaRPr/>
          </a:p>
          <a:p>
            <a:pPr indent="-3429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Disponibilizar o uso atual para o CLP a partir do OPC.</a:t>
            </a:r>
            <a:endParaRPr/>
          </a:p>
        </p:txBody>
      </p:sp>
      <p:sp>
        <p:nvSpPr>
          <p:cNvPr id="135" name="Google Shape;135;g2d2b93c4457_1_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fabfa3d9f4_0_10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1 - INTRODUÇÃO </a:t>
            </a:r>
            <a:r>
              <a:rPr lang="pt-BR" sz="1800"/>
              <a:t>1.4</a:t>
            </a:r>
            <a:r>
              <a:rPr b="1" lang="pt-BR" sz="1800"/>
              <a:t> </a:t>
            </a:r>
            <a:r>
              <a:rPr lang="pt-BR" sz="1800"/>
              <a:t>Requisitos</a:t>
            </a:r>
            <a:endParaRPr/>
          </a:p>
        </p:txBody>
      </p:sp>
      <p:sp>
        <p:nvSpPr>
          <p:cNvPr id="141" name="Google Shape;141;g2fabfa3d9f4_0_102"/>
          <p:cNvSpPr txBox="1"/>
          <p:nvPr/>
        </p:nvSpPr>
        <p:spPr>
          <a:xfrm>
            <a:off x="1060400" y="2456538"/>
            <a:ext cx="12000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latin typeface="Calibri"/>
                <a:ea typeface="Calibri"/>
                <a:cs typeface="Calibri"/>
                <a:sym typeface="Calibri"/>
              </a:rPr>
              <a:t>Armazém</a:t>
            </a:r>
            <a:endParaRPr b="1" sz="18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2fabfa3d9f4_0_102"/>
          <p:cNvSpPr txBox="1"/>
          <p:nvPr/>
        </p:nvSpPr>
        <p:spPr>
          <a:xfrm>
            <a:off x="1136847" y="3069713"/>
            <a:ext cx="8850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Arduíno</a:t>
            </a:r>
            <a:endParaRPr sz="16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2fabfa3d9f4_0_102"/>
          <p:cNvSpPr/>
          <p:nvPr/>
        </p:nvSpPr>
        <p:spPr>
          <a:xfrm>
            <a:off x="515650" y="2429288"/>
            <a:ext cx="2272500" cy="2432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2fabfa3d9f4_0_102"/>
          <p:cNvSpPr txBox="1"/>
          <p:nvPr/>
        </p:nvSpPr>
        <p:spPr>
          <a:xfrm>
            <a:off x="3194500" y="2456538"/>
            <a:ext cx="28809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latin typeface="Calibri"/>
                <a:ea typeface="Calibri"/>
                <a:cs typeface="Calibri"/>
                <a:sym typeface="Calibri"/>
              </a:rPr>
              <a:t>Computador do Laboratório</a:t>
            </a:r>
            <a:endParaRPr b="1" sz="18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2fabfa3d9f4_0_102"/>
          <p:cNvSpPr txBox="1"/>
          <p:nvPr/>
        </p:nvSpPr>
        <p:spPr>
          <a:xfrm>
            <a:off x="3279676" y="3707888"/>
            <a:ext cx="11394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Node-RED</a:t>
            </a:r>
            <a:endParaRPr sz="16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2fabfa3d9f4_0_102"/>
          <p:cNvSpPr txBox="1"/>
          <p:nvPr/>
        </p:nvSpPr>
        <p:spPr>
          <a:xfrm>
            <a:off x="3496649" y="3082213"/>
            <a:ext cx="7035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MQTT</a:t>
            </a:r>
            <a:endParaRPr sz="16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2fabfa3d9f4_0_102"/>
          <p:cNvSpPr txBox="1"/>
          <p:nvPr/>
        </p:nvSpPr>
        <p:spPr>
          <a:xfrm>
            <a:off x="4910500" y="3177863"/>
            <a:ext cx="7896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sz="16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2fabfa3d9f4_0_102"/>
          <p:cNvSpPr txBox="1"/>
          <p:nvPr/>
        </p:nvSpPr>
        <p:spPr>
          <a:xfrm>
            <a:off x="4910600" y="3572788"/>
            <a:ext cx="14481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Interface para o Usuário</a:t>
            </a:r>
            <a:endParaRPr sz="16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2fabfa3d9f4_0_102"/>
          <p:cNvSpPr txBox="1"/>
          <p:nvPr/>
        </p:nvSpPr>
        <p:spPr>
          <a:xfrm>
            <a:off x="4918850" y="4237888"/>
            <a:ext cx="5568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OPC</a:t>
            </a:r>
            <a:endParaRPr sz="16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g2fabfa3d9f4_0_102"/>
          <p:cNvCxnSpPr>
            <a:stCxn id="142" idx="3"/>
            <a:endCxn id="146" idx="1"/>
          </p:cNvCxnSpPr>
          <p:nvPr/>
        </p:nvCxnSpPr>
        <p:spPr>
          <a:xfrm>
            <a:off x="2021847" y="3272213"/>
            <a:ext cx="14748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g2fabfa3d9f4_0_102"/>
          <p:cNvCxnSpPr>
            <a:stCxn id="146" idx="2"/>
            <a:endCxn id="145" idx="0"/>
          </p:cNvCxnSpPr>
          <p:nvPr/>
        </p:nvCxnSpPr>
        <p:spPr>
          <a:xfrm>
            <a:off x="3848399" y="3487213"/>
            <a:ext cx="900" cy="22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g2fabfa3d9f4_0_102"/>
          <p:cNvSpPr txBox="1"/>
          <p:nvPr/>
        </p:nvSpPr>
        <p:spPr>
          <a:xfrm>
            <a:off x="7485375" y="2456538"/>
            <a:ext cx="5568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latin typeface="Calibri"/>
                <a:ea typeface="Calibri"/>
                <a:cs typeface="Calibri"/>
                <a:sym typeface="Calibri"/>
              </a:rPr>
              <a:t>CLP</a:t>
            </a:r>
            <a:endParaRPr b="1" sz="18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2fabfa3d9f4_0_102"/>
          <p:cNvSpPr txBox="1"/>
          <p:nvPr/>
        </p:nvSpPr>
        <p:spPr>
          <a:xfrm>
            <a:off x="7255875" y="3442838"/>
            <a:ext cx="10158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Memória</a:t>
            </a:r>
            <a:endParaRPr sz="16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g2fabfa3d9f4_0_102"/>
          <p:cNvCxnSpPr>
            <a:stCxn id="145" idx="3"/>
            <a:endCxn id="147" idx="1"/>
          </p:cNvCxnSpPr>
          <p:nvPr/>
        </p:nvCxnSpPr>
        <p:spPr>
          <a:xfrm flipH="1" rot="10800000">
            <a:off x="4419076" y="3380288"/>
            <a:ext cx="491400" cy="5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g2fabfa3d9f4_0_102"/>
          <p:cNvCxnSpPr>
            <a:stCxn id="145" idx="3"/>
            <a:endCxn id="149" idx="1"/>
          </p:cNvCxnSpPr>
          <p:nvPr/>
        </p:nvCxnSpPr>
        <p:spPr>
          <a:xfrm>
            <a:off x="4419076" y="3910388"/>
            <a:ext cx="499800" cy="5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g2fabfa3d9f4_0_102"/>
          <p:cNvCxnSpPr>
            <a:stCxn id="145" idx="3"/>
            <a:endCxn id="148" idx="1"/>
          </p:cNvCxnSpPr>
          <p:nvPr/>
        </p:nvCxnSpPr>
        <p:spPr>
          <a:xfrm flipH="1" rot="10800000">
            <a:off x="4419076" y="3905288"/>
            <a:ext cx="4914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g2fabfa3d9f4_0_102"/>
          <p:cNvCxnSpPr>
            <a:stCxn id="149" idx="3"/>
            <a:endCxn id="153" idx="1"/>
          </p:cNvCxnSpPr>
          <p:nvPr/>
        </p:nvCxnSpPr>
        <p:spPr>
          <a:xfrm flipH="1" rot="10800000">
            <a:off x="5475650" y="3645388"/>
            <a:ext cx="1780200" cy="79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g2fabfa3d9f4_0_102"/>
          <p:cNvSpPr/>
          <p:nvPr/>
        </p:nvSpPr>
        <p:spPr>
          <a:xfrm>
            <a:off x="3148725" y="2429288"/>
            <a:ext cx="3179700" cy="2432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2fabfa3d9f4_0_102"/>
          <p:cNvSpPr/>
          <p:nvPr/>
        </p:nvSpPr>
        <p:spPr>
          <a:xfrm>
            <a:off x="6689000" y="2381563"/>
            <a:ext cx="2272500" cy="2432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2fabfa3d9f4_0_10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abfa3d9f4_0_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2</a:t>
            </a:r>
            <a:r>
              <a:rPr lang="pt-BR"/>
              <a:t> - DESENVOLVIMENTO </a:t>
            </a:r>
            <a:r>
              <a:rPr lang="pt-BR" sz="1800"/>
              <a:t>2.1</a:t>
            </a:r>
            <a:r>
              <a:rPr b="1" lang="pt-BR" sz="1800"/>
              <a:t> </a:t>
            </a:r>
            <a:r>
              <a:rPr lang="pt-BR" sz="1800"/>
              <a:t>Aquisição de dados</a:t>
            </a:r>
            <a:endParaRPr/>
          </a:p>
        </p:txBody>
      </p:sp>
      <p:sp>
        <p:nvSpPr>
          <p:cNvPr id="166" name="Google Shape;166;g2fabfa3d9f4_0_22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Modelagem do armazém</a:t>
            </a:r>
            <a:endParaRPr/>
          </a:p>
        </p:txBody>
      </p:sp>
      <p:pic>
        <p:nvPicPr>
          <p:cNvPr id="167" name="Google Shape;167;g2fabfa3d9f4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475" y="1928525"/>
            <a:ext cx="4327573" cy="435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2fabfa3d9f4_0_22"/>
          <p:cNvSpPr txBox="1"/>
          <p:nvPr>
            <p:ph idx="1" type="body"/>
          </p:nvPr>
        </p:nvSpPr>
        <p:spPr>
          <a:xfrm>
            <a:off x="6077975" y="3784988"/>
            <a:ext cx="39000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Sensor fim de curso</a:t>
            </a:r>
            <a:endParaRPr/>
          </a:p>
        </p:txBody>
      </p:sp>
      <p:sp>
        <p:nvSpPr>
          <p:cNvPr id="169" name="Google Shape;169;g2fabfa3d9f4_0_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abfa3d9f4_0_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2 - DESENVOLVIMENTO </a:t>
            </a:r>
            <a:r>
              <a:rPr lang="pt-BR" sz="1800"/>
              <a:t>2.1</a:t>
            </a:r>
            <a:r>
              <a:rPr b="1" lang="pt-BR" sz="1800"/>
              <a:t> </a:t>
            </a:r>
            <a:r>
              <a:rPr lang="pt-BR" sz="1800"/>
              <a:t>Aquisição de dados</a:t>
            </a:r>
            <a:endParaRPr/>
          </a:p>
        </p:txBody>
      </p:sp>
      <p:sp>
        <p:nvSpPr>
          <p:cNvPr id="175" name="Google Shape;175;g2fabfa3d9f4_0_31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Fixação dos sensores</a:t>
            </a:r>
            <a:endParaRPr/>
          </a:p>
        </p:txBody>
      </p:sp>
      <p:pic>
        <p:nvPicPr>
          <p:cNvPr id="176" name="Google Shape;176;g2fabfa3d9f4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25" y="2050525"/>
            <a:ext cx="5505450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2fabfa3d9f4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3125" y="1993375"/>
            <a:ext cx="3495675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2fabfa3d9f4_0_31"/>
          <p:cNvSpPr txBox="1"/>
          <p:nvPr>
            <p:ph idx="1" type="body"/>
          </p:nvPr>
        </p:nvSpPr>
        <p:spPr>
          <a:xfrm>
            <a:off x="466425" y="5603350"/>
            <a:ext cx="5505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Modelo 1</a:t>
            </a:r>
            <a:endParaRPr sz="1600"/>
          </a:p>
        </p:txBody>
      </p:sp>
      <p:sp>
        <p:nvSpPr>
          <p:cNvPr id="179" name="Google Shape;179;g2fabfa3d9f4_0_31"/>
          <p:cNvSpPr txBox="1"/>
          <p:nvPr>
            <p:ph idx="1" type="body"/>
          </p:nvPr>
        </p:nvSpPr>
        <p:spPr>
          <a:xfrm>
            <a:off x="6813125" y="5660500"/>
            <a:ext cx="3618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Modelo 2</a:t>
            </a:r>
            <a:endParaRPr sz="1600"/>
          </a:p>
        </p:txBody>
      </p:sp>
      <p:sp>
        <p:nvSpPr>
          <p:cNvPr id="180" name="Google Shape;180;g2fabfa3d9f4_0_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abfa3d9f4_1_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2 - DESENVOLVIMENTO </a:t>
            </a:r>
            <a:r>
              <a:rPr lang="pt-BR" sz="1800"/>
              <a:t>2.1</a:t>
            </a:r>
            <a:r>
              <a:rPr b="1" lang="pt-BR" sz="1800"/>
              <a:t> </a:t>
            </a:r>
            <a:r>
              <a:rPr lang="pt-BR" sz="1800"/>
              <a:t>Aquisição de dados</a:t>
            </a:r>
            <a:endParaRPr/>
          </a:p>
        </p:txBody>
      </p:sp>
      <p:sp>
        <p:nvSpPr>
          <p:cNvPr id="186" name="Google Shape;186;g2fabfa3d9f4_1_24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Armazém</a:t>
            </a:r>
            <a:endParaRPr/>
          </a:p>
        </p:txBody>
      </p:sp>
      <p:pic>
        <p:nvPicPr>
          <p:cNvPr id="187" name="Google Shape;187;g2fabfa3d9f4_1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3161" y="1690825"/>
            <a:ext cx="3305675" cy="44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2fabfa3d9f4_1_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fabfa3d9f4_0_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2 - DESENVOLVIMENTO </a:t>
            </a:r>
            <a:r>
              <a:rPr lang="pt-BR" sz="1800"/>
              <a:t>2.1</a:t>
            </a:r>
            <a:r>
              <a:rPr b="1" lang="pt-BR" sz="1800"/>
              <a:t> </a:t>
            </a:r>
            <a:r>
              <a:rPr lang="pt-BR" sz="1800"/>
              <a:t>Aquisição de dados</a:t>
            </a:r>
            <a:endParaRPr/>
          </a:p>
        </p:txBody>
      </p:sp>
      <p:sp>
        <p:nvSpPr>
          <p:cNvPr id="194" name="Google Shape;194;g2fabfa3d9f4_0_40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Leitura dos dados</a:t>
            </a:r>
            <a:endParaRPr/>
          </a:p>
        </p:txBody>
      </p:sp>
      <p:pic>
        <p:nvPicPr>
          <p:cNvPr id="195" name="Google Shape;195;g2fabfa3d9f4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750" y="2050100"/>
            <a:ext cx="6938601" cy="38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2fabfa3d9f4_0_40"/>
          <p:cNvSpPr txBox="1"/>
          <p:nvPr>
            <p:ph idx="1" type="body"/>
          </p:nvPr>
        </p:nvSpPr>
        <p:spPr>
          <a:xfrm>
            <a:off x="6736450" y="2050100"/>
            <a:ext cx="4477500" cy="1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Vetor de marcação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pos_xy (x linha, y coluna)</a:t>
            </a:r>
            <a:endParaRPr/>
          </a:p>
        </p:txBody>
      </p:sp>
      <p:sp>
        <p:nvSpPr>
          <p:cNvPr id="197" name="Google Shape;197;g2fabfa3d9f4_0_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fabfa3d9f4_0_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2 - DESENVOLVIMENTO </a:t>
            </a:r>
            <a:r>
              <a:rPr lang="pt-BR" sz="1800"/>
              <a:t>2.1</a:t>
            </a:r>
            <a:r>
              <a:rPr b="1" lang="pt-BR" sz="1800"/>
              <a:t> </a:t>
            </a:r>
            <a:r>
              <a:rPr lang="pt-BR" sz="1800"/>
              <a:t>Aquisição de dados</a:t>
            </a:r>
            <a:endParaRPr/>
          </a:p>
        </p:txBody>
      </p:sp>
      <p:sp>
        <p:nvSpPr>
          <p:cNvPr id="203" name="Google Shape;203;g2fabfa3d9f4_0_58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Mosquitto</a:t>
            </a:r>
            <a:endParaRPr/>
          </a:p>
        </p:txBody>
      </p:sp>
      <p:sp>
        <p:nvSpPr>
          <p:cNvPr id="204" name="Google Shape;204;g2fabfa3d9f4_0_58"/>
          <p:cNvSpPr txBox="1"/>
          <p:nvPr>
            <p:ph type="title"/>
          </p:nvPr>
        </p:nvSpPr>
        <p:spPr>
          <a:xfrm>
            <a:off x="4982250" y="2117825"/>
            <a:ext cx="2227500" cy="19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i="1" lang="pt-BR" sz="1800"/>
              <a:t>   </a:t>
            </a:r>
            <a:r>
              <a:rPr b="1" i="1" lang="pt-BR" sz="3000"/>
              <a:t>storageInfo</a:t>
            </a:r>
            <a:endParaRPr b="1" i="1"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i="1"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1800"/>
              <a:t>    </a:t>
            </a:r>
            <a:r>
              <a:rPr lang="pt-BR" sz="2300"/>
              <a:t>Tópico MQTT</a:t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1400"/>
              <a:t>   computador laboratório</a:t>
            </a:r>
            <a:endParaRPr sz="1400"/>
          </a:p>
        </p:txBody>
      </p:sp>
      <p:sp>
        <p:nvSpPr>
          <p:cNvPr id="205" name="Google Shape;205;g2fabfa3d9f4_0_58"/>
          <p:cNvSpPr txBox="1"/>
          <p:nvPr>
            <p:ph type="title"/>
          </p:nvPr>
        </p:nvSpPr>
        <p:spPr>
          <a:xfrm>
            <a:off x="1821450" y="3232575"/>
            <a:ext cx="1652400" cy="19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i="1" lang="pt-BR" sz="1800"/>
              <a:t>   </a:t>
            </a:r>
            <a:r>
              <a:rPr b="1" i="1" lang="pt-BR" sz="3000"/>
              <a:t>Arduíno</a:t>
            </a:r>
            <a:endParaRPr b="1" i="1"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1400"/>
              <a:t>          armazém</a:t>
            </a:r>
            <a:endParaRPr sz="1400"/>
          </a:p>
        </p:txBody>
      </p:sp>
      <p:sp>
        <p:nvSpPr>
          <p:cNvPr id="206" name="Google Shape;206;g2fabfa3d9f4_0_58"/>
          <p:cNvSpPr txBox="1"/>
          <p:nvPr>
            <p:ph type="title"/>
          </p:nvPr>
        </p:nvSpPr>
        <p:spPr>
          <a:xfrm>
            <a:off x="8508400" y="3232575"/>
            <a:ext cx="2037000" cy="19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i="1" lang="pt-BR" sz="1800"/>
              <a:t>   </a:t>
            </a:r>
            <a:r>
              <a:rPr b="1" i="1" lang="pt-BR" sz="3000"/>
              <a:t>NodeRED</a:t>
            </a:r>
            <a:endParaRPr b="1" i="1"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1400"/>
              <a:t> </a:t>
            </a:r>
            <a:r>
              <a:rPr lang="pt-BR" sz="1400"/>
              <a:t>computador laboratório</a:t>
            </a:r>
            <a:endParaRPr sz="1400"/>
          </a:p>
        </p:txBody>
      </p:sp>
      <p:cxnSp>
        <p:nvCxnSpPr>
          <p:cNvPr id="207" name="Google Shape;207;g2fabfa3d9f4_0_58"/>
          <p:cNvCxnSpPr>
            <a:stCxn id="205" idx="3"/>
            <a:endCxn id="204" idx="1"/>
          </p:cNvCxnSpPr>
          <p:nvPr/>
        </p:nvCxnSpPr>
        <p:spPr>
          <a:xfrm flipH="1" rot="10800000">
            <a:off x="3473850" y="3095025"/>
            <a:ext cx="1508400" cy="111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g2fabfa3d9f4_0_58"/>
          <p:cNvSpPr txBox="1"/>
          <p:nvPr>
            <p:ph idx="1" type="body"/>
          </p:nvPr>
        </p:nvSpPr>
        <p:spPr>
          <a:xfrm>
            <a:off x="3473850" y="3339575"/>
            <a:ext cx="9531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779"/>
              <a:t>Publica</a:t>
            </a:r>
            <a:endParaRPr sz="1779"/>
          </a:p>
        </p:txBody>
      </p:sp>
      <p:cxnSp>
        <p:nvCxnSpPr>
          <p:cNvPr id="209" name="Google Shape;209;g2fabfa3d9f4_0_58"/>
          <p:cNvCxnSpPr>
            <a:stCxn id="206" idx="1"/>
            <a:endCxn id="204" idx="3"/>
          </p:cNvCxnSpPr>
          <p:nvPr/>
        </p:nvCxnSpPr>
        <p:spPr>
          <a:xfrm rot="10800000">
            <a:off x="7209700" y="3095025"/>
            <a:ext cx="1298700" cy="111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g2fabfa3d9f4_0_58"/>
          <p:cNvSpPr txBox="1"/>
          <p:nvPr>
            <p:ph idx="1" type="body"/>
          </p:nvPr>
        </p:nvSpPr>
        <p:spPr>
          <a:xfrm>
            <a:off x="7718550" y="3339575"/>
            <a:ext cx="9531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779"/>
              <a:t>Leitura</a:t>
            </a:r>
            <a:endParaRPr sz="1779"/>
          </a:p>
        </p:txBody>
      </p:sp>
      <p:sp>
        <p:nvSpPr>
          <p:cNvPr id="211" name="Google Shape;211;g2fabfa3d9f4_0_58"/>
          <p:cNvSpPr txBox="1"/>
          <p:nvPr>
            <p:ph idx="1" type="body"/>
          </p:nvPr>
        </p:nvSpPr>
        <p:spPr>
          <a:xfrm>
            <a:off x="838200" y="5234528"/>
            <a:ext cx="39000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00037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5"/>
              <a:buChar char="●"/>
            </a:pPr>
            <a:r>
              <a:rPr lang="pt-BR"/>
              <a:t>Regra de firewall (porta 1883)</a:t>
            </a:r>
            <a:endParaRPr/>
          </a:p>
          <a:p>
            <a:pPr indent="-300037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5"/>
              <a:buChar char="●"/>
            </a:pPr>
            <a:r>
              <a:rPr lang="pt-BR"/>
              <a:t>Permitir leitura do tópico</a:t>
            </a:r>
            <a:endParaRPr/>
          </a:p>
        </p:txBody>
      </p:sp>
      <p:sp>
        <p:nvSpPr>
          <p:cNvPr id="212" name="Google Shape;212;g2fabfa3d9f4_0_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fabfa3d9f4_0_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2 - DESENVOLVIMENTO </a:t>
            </a:r>
            <a:r>
              <a:rPr lang="pt-BR" sz="1800"/>
              <a:t>2.2</a:t>
            </a:r>
            <a:r>
              <a:rPr b="1" lang="pt-BR" sz="1800"/>
              <a:t> </a:t>
            </a:r>
            <a:r>
              <a:rPr lang="pt-BR" sz="1800"/>
              <a:t>Armazenamento </a:t>
            </a:r>
            <a:r>
              <a:rPr lang="pt-BR" sz="1800"/>
              <a:t>de dados</a:t>
            </a:r>
            <a:endParaRPr/>
          </a:p>
        </p:txBody>
      </p:sp>
      <p:sp>
        <p:nvSpPr>
          <p:cNvPr id="218" name="Google Shape;218;g2fabfa3d9f4_0_51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Banco de dados</a:t>
            </a:r>
            <a:endParaRPr/>
          </a:p>
        </p:txBody>
      </p:sp>
      <p:sp>
        <p:nvSpPr>
          <p:cNvPr id="219" name="Google Shape;219;g2fabfa3d9f4_0_51"/>
          <p:cNvSpPr txBox="1"/>
          <p:nvPr>
            <p:ph idx="1" type="body"/>
          </p:nvPr>
        </p:nvSpPr>
        <p:spPr>
          <a:xfrm>
            <a:off x="838200" y="2134743"/>
            <a:ext cx="7448100" cy="16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MySQL</a:t>
            </a:r>
            <a:endParaRPr/>
          </a:p>
        </p:txBody>
      </p:sp>
      <p:pic>
        <p:nvPicPr>
          <p:cNvPr id="220" name="Google Shape;220;g2fabfa3d9f4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2200" y="2900356"/>
            <a:ext cx="72675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2fabfa3d9f4_0_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fabfa3d9f4_0_8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2 - DESENVOLVIMENTO </a:t>
            </a:r>
            <a:r>
              <a:rPr lang="pt-BR" sz="1800"/>
              <a:t>2.2</a:t>
            </a:r>
            <a:r>
              <a:rPr b="1" lang="pt-BR" sz="1800"/>
              <a:t> </a:t>
            </a:r>
            <a:r>
              <a:rPr lang="pt-BR" sz="1800"/>
              <a:t>Armazenamento de dados</a:t>
            </a:r>
            <a:endParaRPr/>
          </a:p>
        </p:txBody>
      </p:sp>
      <p:sp>
        <p:nvSpPr>
          <p:cNvPr id="227" name="Google Shape;227;g2fabfa3d9f4_0_88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Banco de dados</a:t>
            </a:r>
            <a:endParaRPr/>
          </a:p>
        </p:txBody>
      </p:sp>
      <p:pic>
        <p:nvPicPr>
          <p:cNvPr id="228" name="Google Shape;228;g2fabfa3d9f4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300" y="1969050"/>
            <a:ext cx="11223401" cy="369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2fabfa3d9f4_0_8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fabfa3d9f4_0_9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2 - DESENVOLVIMENTO </a:t>
            </a:r>
            <a:r>
              <a:rPr lang="pt-BR" sz="1800"/>
              <a:t>2.3</a:t>
            </a:r>
            <a:r>
              <a:rPr b="1" lang="pt-BR" sz="1800"/>
              <a:t> </a:t>
            </a:r>
            <a:r>
              <a:rPr lang="pt-BR" sz="1800"/>
              <a:t>Interface</a:t>
            </a:r>
            <a:r>
              <a:rPr lang="pt-BR" sz="1800"/>
              <a:t> do usuário</a:t>
            </a:r>
            <a:endParaRPr/>
          </a:p>
        </p:txBody>
      </p:sp>
      <p:sp>
        <p:nvSpPr>
          <p:cNvPr id="235" name="Google Shape;235;g2fabfa3d9f4_0_96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Interface</a:t>
            </a:r>
            <a:endParaRPr/>
          </a:p>
        </p:txBody>
      </p:sp>
      <p:pic>
        <p:nvPicPr>
          <p:cNvPr id="236" name="Google Shape;236;g2fabfa3d9f4_0_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438" y="2090738"/>
            <a:ext cx="9001125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2fabfa3d9f4_0_96"/>
          <p:cNvSpPr txBox="1"/>
          <p:nvPr>
            <p:ph idx="1" type="body"/>
          </p:nvPr>
        </p:nvSpPr>
        <p:spPr>
          <a:xfrm>
            <a:off x="838200" y="5234525"/>
            <a:ext cx="82080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pt-BR" sz="2000"/>
              <a:t>Acesso à interface: ip_do_computador_do_laboratório:1880/ui</a:t>
            </a:r>
            <a:endParaRPr sz="2000"/>
          </a:p>
        </p:txBody>
      </p:sp>
      <p:sp>
        <p:nvSpPr>
          <p:cNvPr id="238" name="Google Shape;238;g2fabfa3d9f4_0_9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fabfa3d9f4_0_10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2 - DESENVOLVIMENTO </a:t>
            </a:r>
            <a:r>
              <a:rPr lang="pt-BR" sz="1800"/>
              <a:t>2.3</a:t>
            </a:r>
            <a:r>
              <a:rPr b="1" lang="pt-BR" sz="1800"/>
              <a:t> </a:t>
            </a:r>
            <a:r>
              <a:rPr lang="pt-BR" sz="1800"/>
              <a:t>Interface do usuário</a:t>
            </a:r>
            <a:endParaRPr/>
          </a:p>
        </p:txBody>
      </p:sp>
      <p:sp>
        <p:nvSpPr>
          <p:cNvPr id="244" name="Google Shape;244;g2fabfa3d9f4_0_108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Interface</a:t>
            </a:r>
            <a:endParaRPr/>
          </a:p>
        </p:txBody>
      </p:sp>
      <p:pic>
        <p:nvPicPr>
          <p:cNvPr id="245" name="Google Shape;245;g2fabfa3d9f4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438" y="1989750"/>
            <a:ext cx="9001125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2fabfa3d9f4_0_10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fabfa3d9f4_0_1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2 - DESENVOLVIMENTO </a:t>
            </a:r>
            <a:r>
              <a:rPr lang="pt-BR" sz="1800"/>
              <a:t>2.4</a:t>
            </a:r>
            <a:r>
              <a:rPr b="1" lang="pt-BR" sz="1800"/>
              <a:t> </a:t>
            </a:r>
            <a:r>
              <a:rPr lang="pt-BR" sz="1800"/>
              <a:t>Disponibilização dos dados</a:t>
            </a:r>
            <a:endParaRPr/>
          </a:p>
        </p:txBody>
      </p:sp>
      <p:sp>
        <p:nvSpPr>
          <p:cNvPr id="252" name="Google Shape;252;g2fabfa3d9f4_0_116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OPC</a:t>
            </a:r>
            <a:endParaRPr/>
          </a:p>
        </p:txBody>
      </p:sp>
      <p:pic>
        <p:nvPicPr>
          <p:cNvPr id="253" name="Google Shape;253;g2fabfa3d9f4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873175"/>
            <a:ext cx="586740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2fabfa3d9f4_0_116"/>
          <p:cNvSpPr txBox="1"/>
          <p:nvPr>
            <p:ph idx="1" type="body"/>
          </p:nvPr>
        </p:nvSpPr>
        <p:spPr>
          <a:xfrm>
            <a:off x="7240375" y="3860075"/>
            <a:ext cx="38013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pt-BR" sz="2000"/>
              <a:t>Envio de 4 em 4 </a:t>
            </a:r>
            <a:r>
              <a:rPr i="1" lang="pt-BR" sz="2000"/>
              <a:t>bits.</a:t>
            </a:r>
            <a:endParaRPr i="1" sz="2000"/>
          </a:p>
        </p:txBody>
      </p:sp>
      <p:sp>
        <p:nvSpPr>
          <p:cNvPr id="255" name="Google Shape;255;g2fabfa3d9f4_0_1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fabfa3d9f4_0_1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2 - DESENVOLVIMENTO </a:t>
            </a:r>
            <a:r>
              <a:rPr lang="pt-BR" sz="1800"/>
              <a:t>2.4</a:t>
            </a:r>
            <a:r>
              <a:rPr b="1" lang="pt-BR" sz="1800"/>
              <a:t> </a:t>
            </a:r>
            <a:r>
              <a:rPr lang="pt-BR" sz="1800"/>
              <a:t>Disponibilização dos dados</a:t>
            </a:r>
            <a:endParaRPr/>
          </a:p>
        </p:txBody>
      </p:sp>
      <p:sp>
        <p:nvSpPr>
          <p:cNvPr id="261" name="Google Shape;261;g2fabfa3d9f4_0_124"/>
          <p:cNvSpPr txBox="1"/>
          <p:nvPr>
            <p:ph idx="1" type="body"/>
          </p:nvPr>
        </p:nvSpPr>
        <p:spPr>
          <a:xfrm>
            <a:off x="838200" y="1444625"/>
            <a:ext cx="3618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OPC</a:t>
            </a:r>
            <a:endParaRPr/>
          </a:p>
        </p:txBody>
      </p:sp>
      <p:pic>
        <p:nvPicPr>
          <p:cNvPr id="262" name="Google Shape;262;g2fabfa3d9f4_0_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425" y="1776575"/>
            <a:ext cx="9001125" cy="43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2fabfa3d9f4_0_1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fabfa3d9f4_0_1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3</a:t>
            </a:r>
            <a:r>
              <a:rPr lang="pt-BR"/>
              <a:t> - RESULTADO</a:t>
            </a:r>
            <a:endParaRPr/>
          </a:p>
        </p:txBody>
      </p:sp>
      <p:sp>
        <p:nvSpPr>
          <p:cNvPr id="269" name="Google Shape;269;g2fabfa3d9f4_0_132"/>
          <p:cNvSpPr txBox="1"/>
          <p:nvPr>
            <p:ph idx="1" type="body"/>
          </p:nvPr>
        </p:nvSpPr>
        <p:spPr>
          <a:xfrm>
            <a:off x="838200" y="1444625"/>
            <a:ext cx="96363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000"/>
              <a:t>► Demonstração</a:t>
            </a:r>
            <a:endParaRPr/>
          </a:p>
        </p:txBody>
      </p:sp>
      <p:sp>
        <p:nvSpPr>
          <p:cNvPr id="270" name="Google Shape;270;g2fabfa3d9f4_0_132"/>
          <p:cNvSpPr txBox="1"/>
          <p:nvPr>
            <p:ph idx="1" type="body"/>
          </p:nvPr>
        </p:nvSpPr>
        <p:spPr>
          <a:xfrm>
            <a:off x="314250" y="2906250"/>
            <a:ext cx="43038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None/>
            </a:pPr>
            <a:r>
              <a:rPr lang="pt-BR" sz="2275" u="sng">
                <a:solidFill>
                  <a:schemeClr val="hlink"/>
                </a:solidFill>
                <a:hlinkClick r:id="rId3"/>
              </a:rPr>
              <a:t>https://youtu.be/A0jNxXPh3Rw</a:t>
            </a:r>
            <a:endParaRPr sz="2275"/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2275"/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None/>
            </a:pPr>
            <a:r>
              <a:rPr lang="pt-BR" sz="2275" u="sng">
                <a:solidFill>
                  <a:schemeClr val="hlink"/>
                </a:solidFill>
                <a:hlinkClick r:id="rId4"/>
              </a:rPr>
              <a:t>https://youtu.be/gb24BZ6IZMY</a:t>
            </a:r>
            <a:endParaRPr sz="2275"/>
          </a:p>
        </p:txBody>
      </p:sp>
      <p:pic>
        <p:nvPicPr>
          <p:cNvPr id="271" name="Google Shape;271;g2fabfa3d9f4_0_1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4600" y="2057467"/>
            <a:ext cx="2730075" cy="2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2fabfa3d9f4_0_1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fabfa3d9f4_0_1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4</a:t>
            </a:r>
            <a:r>
              <a:rPr lang="pt-BR"/>
              <a:t> - CONCLUSÃO E PERSPECTIVAS</a:t>
            </a:r>
            <a:endParaRPr/>
          </a:p>
        </p:txBody>
      </p:sp>
      <p:sp>
        <p:nvSpPr>
          <p:cNvPr id="278" name="Google Shape;278;g2fabfa3d9f4_0_138"/>
          <p:cNvSpPr txBox="1"/>
          <p:nvPr>
            <p:ph idx="1" type="body"/>
          </p:nvPr>
        </p:nvSpPr>
        <p:spPr>
          <a:xfrm>
            <a:off x="5974100" y="2235525"/>
            <a:ext cx="4459800" cy="3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400"/>
              <a:t>► Integração do armazém com o CLP.</a:t>
            </a:r>
            <a:endParaRPr sz="240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400"/>
              <a:t>► Possibilidade de novos programas na disciplina de Manufatura Integrada.</a:t>
            </a:r>
            <a:endParaRPr sz="2400"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/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400"/>
              <a:t>► Inúmeras possibilidades para a integração do laboratório. </a:t>
            </a:r>
            <a:endParaRPr sz="2400"/>
          </a:p>
        </p:txBody>
      </p:sp>
      <p:pic>
        <p:nvPicPr>
          <p:cNvPr id="279" name="Google Shape;279;g2fabfa3d9f4_0_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98" y="1928525"/>
            <a:ext cx="5010350" cy="375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2fabfa3d9f4_0_1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abfa3d9f4_0_1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5</a:t>
            </a:r>
            <a:r>
              <a:rPr lang="pt-BR"/>
              <a:t> - PERGUNTAS</a:t>
            </a:r>
            <a:endParaRPr/>
          </a:p>
        </p:txBody>
      </p:sp>
      <p:sp>
        <p:nvSpPr>
          <p:cNvPr id="286" name="Google Shape;286;g2fabfa3d9f4_0_145"/>
          <p:cNvSpPr txBox="1"/>
          <p:nvPr>
            <p:ph idx="1" type="body"/>
          </p:nvPr>
        </p:nvSpPr>
        <p:spPr>
          <a:xfrm>
            <a:off x="4286550" y="3047250"/>
            <a:ext cx="3618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 sz="4800"/>
              <a:t>OBRIGADO</a:t>
            </a:r>
            <a:endParaRPr b="1"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2023-09-05T00:24:14Z</dcterms:created>
  <dc:creator>Simone</dc:creator>
</cp:coreProperties>
</file>